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1" r:id="rId2"/>
    <p:sldId id="2147470502" r:id="rId3"/>
    <p:sldId id="2147470503" r:id="rId4"/>
    <p:sldId id="2147470510" r:id="rId5"/>
    <p:sldId id="2147470487" r:id="rId6"/>
    <p:sldId id="2147470494" r:id="rId7"/>
    <p:sldId id="2147470498" r:id="rId8"/>
    <p:sldId id="2147470499" r:id="rId9"/>
    <p:sldId id="2147470517" r:id="rId10"/>
    <p:sldId id="2147470521" r:id="rId11"/>
    <p:sldId id="2147470524" r:id="rId12"/>
    <p:sldId id="2147470525" r:id="rId13"/>
    <p:sldId id="2147470531" r:id="rId14"/>
    <p:sldId id="2147470526" r:id="rId15"/>
    <p:sldId id="2147470523" r:id="rId16"/>
    <p:sldId id="2147470529" r:id="rId17"/>
    <p:sldId id="2147470527" r:id="rId18"/>
    <p:sldId id="2147470528" r:id="rId19"/>
    <p:sldId id="2147470518" r:id="rId20"/>
    <p:sldId id="2147470520" r:id="rId21"/>
    <p:sldId id="214747050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REVIEW III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  <a:p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HARIPRIYA S 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(241262601005)</a:t>
            </a:r>
          </a:p>
          <a:p>
            <a:pPr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96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5018811" y="52434"/>
            <a:ext cx="794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1F6755D9-9928-33FD-F201-409E0F51253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44956" y="1570765"/>
            <a:ext cx="116209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Perishable foods such as dairy, fruits, and meat spoil rapidly during storage and transport.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Existing monitoring methods rely on laboratory tests or simple IoT threshold alerts.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Spoilage gases increase before visible deterioration.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Lack of predictive monitoring results in food waste, safety concerns, and economic losses.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This project aims to integrate IoT sensing with machine learning for real-time freshness and shelf-life prediction.</a:t>
            </a:r>
          </a:p>
        </p:txBody>
      </p:sp>
    </p:spTree>
    <p:extLst>
      <p:ext uri="{BB962C8B-B14F-4D97-AF65-F5344CB8AC3E}">
        <p14:creationId xmlns:p14="http://schemas.microsoft.com/office/powerpoint/2010/main" val="394627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5AEDBFA-C0BD-78C5-7BCA-E7F2BA6CA0A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31666" y="1434668"/>
            <a:ext cx="1167631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evelop an end-to-end IoT system using ESP32 and sensors for real-time monitoring.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apture and analyze the spoilage indicators: Volatile Organic Compounds(VOC), Ammonia(NH3), Carbon-Dioxide(CO2), ethanol, temperature, and humidity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esign a machine learning model for predicting spoilage progression and estimating remaining shelf life.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uild a cloud-connected dashboard for live data visualization.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emonstrate the system under controlled storage conditions for selected perishable items.</a:t>
            </a:r>
          </a:p>
        </p:txBody>
      </p:sp>
    </p:spTree>
    <p:extLst>
      <p:ext uri="{BB962C8B-B14F-4D97-AF65-F5344CB8AC3E}">
        <p14:creationId xmlns:p14="http://schemas.microsoft.com/office/powerpoint/2010/main" val="79774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0643F-5E8C-A41C-22B6-770A3C75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60063-9005-335E-EA9D-CCFF7FC097E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2836CA-6739-CCF5-C147-5555448B090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0A4588-C82E-B005-A663-B8C205F6F010}"/>
              </a:ext>
            </a:extLst>
          </p:cNvPr>
          <p:cNvSpPr txBox="1"/>
          <p:nvPr/>
        </p:nvSpPr>
        <p:spPr>
          <a:xfrm>
            <a:off x="5018811" y="52434"/>
            <a:ext cx="794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CF562AF9-5046-BFDB-5FA6-29E8A236558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74452" y="1458180"/>
            <a:ext cx="11620981" cy="4549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Food spoilage is difficult to detect before it occurs, yet early detection is critical for safety and quality.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Laboratory methods are precise but slow and impractical for real-time monitoring.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Most IoT systems rely on simple thresholds, giving only reactive outputs.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Spoilage gases rise well before visible signs appear.</a:t>
            </a:r>
            <a:endParaRPr lang="en-US" dirty="0">
              <a:latin typeface="+mn-lt"/>
            </a:endParaRPr>
          </a:p>
          <a:p>
            <a:pPr algn="just"/>
            <a:r>
              <a:rPr lang="en-US" dirty="0">
                <a:latin typeface="+mn-lt"/>
              </a:rPr>
              <a:t>Key gaps:</a:t>
            </a:r>
          </a:p>
          <a:p>
            <a:pPr lvl="1" algn="just"/>
            <a:r>
              <a:rPr lang="en-US" sz="2800" dirty="0"/>
              <a:t>No real-time shelf-life prediction.</a:t>
            </a:r>
          </a:p>
          <a:p>
            <a:pPr lvl="1" algn="just"/>
            <a:r>
              <a:rPr lang="en-US" sz="2800" dirty="0"/>
              <a:t>Cold-chain failures often go unnoticed.</a:t>
            </a:r>
          </a:p>
          <a:p>
            <a:pPr lvl="1" algn="just"/>
            <a:r>
              <a:rPr lang="en-US" sz="2800" dirty="0"/>
              <a:t>Manual inspection is subjective and inconsistent.</a:t>
            </a:r>
          </a:p>
        </p:txBody>
      </p:sp>
    </p:spTree>
    <p:extLst>
      <p:ext uri="{BB962C8B-B14F-4D97-AF65-F5344CB8AC3E}">
        <p14:creationId xmlns:p14="http://schemas.microsoft.com/office/powerpoint/2010/main" val="191664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1901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D8FFBF3-BD71-D321-26E2-2E9BF81D7A05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EE950-6F96-3A37-7050-5142E812AA2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55996" y="1458450"/>
            <a:ext cx="8940590" cy="4280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Module 1: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Acquisition.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Module 2: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Preprocessing and EDA.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Module 3: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Cloud Dashboard Setup and Integration.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Module 4: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Machine Learning Model Development.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Module 5: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Prediction and Alert System.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4052320E-9C02-C6A3-1154-697BD01723F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55996" y="1234637"/>
            <a:ext cx="1124568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Project workflow structured into sequential phases: data collection, preprocessing, modeling, and alert generation.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ESP32 transmits sensor data simultaneously to Render and </a:t>
            </a:r>
            <a:r>
              <a:rPr lang="en-US" altLang="en-US" b="0" dirty="0" err="1">
                <a:solidFill>
                  <a:schemeClr val="tx1"/>
                </a:solidFill>
                <a:latin typeface="+mn-lt"/>
              </a:rPr>
              <a:t>ThingSpeak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Render handles API hosting and redirects data to respective Azure ML endpoints based on user category selection.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Azure performs ML inference and returns predictions for spoilage stage and shelf life.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 err="1">
                <a:solidFill>
                  <a:schemeClr val="tx1"/>
                </a:solidFill>
                <a:latin typeface="+mn-lt"/>
              </a:rPr>
              <a:t>ThingSpeak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 visualizes live sensor readings and trends.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Dual-layer alerting: threshold-based (reactive) and ML-driven (proactive) via Render–Azure pipeline.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9CD0F-913D-8E69-0471-CF1269A42703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4" y="1271219"/>
            <a:ext cx="11316573" cy="5084232"/>
          </a:xfrm>
        </p:spPr>
        <p:txBody>
          <a:bodyPr/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Approach</a:t>
            </a:r>
            <a:endParaRPr lang="en-US" altLang="en-US" b="0" dirty="0">
              <a:solidFill>
                <a:schemeClr val="tx1"/>
              </a:solidFill>
              <a:latin typeface="+mn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Hybrid strategy: Threshold-based alerts + ML predictions.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Edge-level alerts through ESP32, predictive modeling in cloud.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Algorithms</a:t>
            </a:r>
            <a:endParaRPr lang="en-US" altLang="en-US" b="0" dirty="0">
              <a:solidFill>
                <a:schemeClr val="tx1"/>
              </a:solidFill>
              <a:latin typeface="+mn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Random Forest Classifier- spoilage stage classification.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+mn-lt"/>
              </a:rPr>
              <a:t>Regression model- estimation of remaining shelf life.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Tools &amp; Platform</a:t>
            </a:r>
            <a:endParaRPr lang="en-US" altLang="en-US" b="0" dirty="0">
              <a:solidFill>
                <a:schemeClr val="tx1"/>
              </a:solidFill>
              <a:latin typeface="+mn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Hardware: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 ESP32, DHT22, MQ-135, MQ-137, MQ-3 sensors.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Cloud: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 Render(API hosting &amp; ML routing), Azure(ML endpoints &amp; alerts), </a:t>
            </a:r>
            <a:r>
              <a:rPr lang="en-US" altLang="en-US" b="0" dirty="0" err="1">
                <a:solidFill>
                  <a:schemeClr val="tx1"/>
                </a:solidFill>
                <a:latin typeface="+mn-lt"/>
              </a:rPr>
              <a:t>ThingSpeak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 (dashboard visualization).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Software:</a:t>
            </a:r>
            <a:r>
              <a:rPr lang="en-US" altLang="en-US" b="0" dirty="0">
                <a:solidFill>
                  <a:schemeClr val="tx1"/>
                </a:solidFill>
                <a:latin typeface="+mn-lt"/>
              </a:rPr>
              <a:t> Python (pandas, scikit-learn, matplotlib), Arduino IDE.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, Algorithms &amp;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4BBC912-1D51-10E5-B484-6B2FFCFF0E0C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F304AC7-3628-F17C-7AF7-05846391EE90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B2445-5D3F-18A0-B16B-8827F424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" y="1618617"/>
            <a:ext cx="10261601" cy="448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6470-5171-82E1-4CFD-DA728DB74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18E224-C377-F57C-8DF7-A7A0024F99D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681A35-A52E-6B91-F0E9-30F8BD87DA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480C07-24DA-F468-585D-1319EA59E479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194600D-6C01-4147-F92C-C93D1304902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50154" y="1244731"/>
            <a:ext cx="1169640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Testing was conducted on multiple category food items such as  fruits, meat, and dairy, under controlled storage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Each category exhibited distinct gas emission patterns, validating the sensing module’s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VOC and Alcohol (MQ135 &amp; MQ3) levels rose during early freshness loss, while Ammonia (MQ137) dominated in later spoilage stages, especially for meat and dairy.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Temperature and humidity influenced the gas emission rate and overall spoilage progression.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observed data confirmed that the system can detect early spoilage indicators before visible deterioration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171580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71A7C-9EF2-9C82-BE7C-4B018AC9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25D67-1655-092A-5BE1-615FDED7F80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6203F1-F9C2-27D7-5801-8A8B4C93944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6026ABA-74D6-A307-F54C-5AD4CB49988A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C554A-C72C-C336-C23E-51C69D5D8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7328" b="13030"/>
          <a:stretch>
            <a:fillRect/>
          </a:stretch>
        </p:blipFill>
        <p:spPr>
          <a:xfrm>
            <a:off x="2686050" y="1267046"/>
            <a:ext cx="6819900" cy="4139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7ADDEE-8561-E233-50B1-255E8DE3E285}"/>
              </a:ext>
            </a:extLst>
          </p:cNvPr>
          <p:cNvSpPr txBox="1"/>
          <p:nvPr/>
        </p:nvSpPr>
        <p:spPr>
          <a:xfrm>
            <a:off x="1310127" y="5524458"/>
            <a:ext cx="9571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System setup for monitoring multiple-category food items under controlled conditions.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8338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383B-D048-EF13-5389-5223A612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102AD-C45A-50A8-D995-87172831822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637D37-644B-8AA5-2387-D65F1B2B4D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344A91E-2502-25C2-B146-EA0A5B66B2CE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53966-D378-2242-17D7-6968949C36BF}"/>
              </a:ext>
            </a:extLst>
          </p:cNvPr>
          <p:cNvSpPr txBox="1"/>
          <p:nvPr/>
        </p:nvSpPr>
        <p:spPr>
          <a:xfrm>
            <a:off x="1310127" y="5474556"/>
            <a:ext cx="9571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Cloud integration using Microsoft Azure platform.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60883A-D04C-2764-49A9-B848C2B4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34" t="-5052" r="534" b="5052"/>
          <a:stretch>
            <a:fillRect/>
          </a:stretch>
        </p:blipFill>
        <p:spPr>
          <a:xfrm>
            <a:off x="81807" y="1392716"/>
            <a:ext cx="12028386" cy="35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1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F64E-F312-7CCB-E17A-3C6D9ECD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7AD636-4119-B4B1-5ECE-703502625D6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C4E526-F137-A672-2E98-81517170B1D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195C19-8C42-BF0B-54C2-4506BF9D5B1E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3144B-DAD5-ACA4-BF0F-C21D3289A0A4}"/>
              </a:ext>
            </a:extLst>
          </p:cNvPr>
          <p:cNvSpPr txBox="1"/>
          <p:nvPr/>
        </p:nvSpPr>
        <p:spPr>
          <a:xfrm>
            <a:off x="1310127" y="5474556"/>
            <a:ext cx="9571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Real-time data visualization on </a:t>
            </a:r>
            <a:r>
              <a:rPr lang="en-US" sz="2400" b="1" dirty="0" err="1"/>
              <a:t>ThingSpeak</a:t>
            </a:r>
            <a:r>
              <a:rPr lang="en-US" sz="2400" b="1" dirty="0"/>
              <a:t> platform.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94FF9-C9E6-1C62-540E-35443452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0" y="1395692"/>
            <a:ext cx="10344710" cy="40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9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370D-2527-CE80-CE14-EA159A97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334FA-1887-6DE2-6A26-2A10F64CD97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CC5E3C-9B7F-813E-DB91-BB74D7044E1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AFE549-CAAF-64D0-2141-333CFAA8E9A4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F5CF9-6E04-AC2A-9C54-D8D1E2370AE1}"/>
              </a:ext>
            </a:extLst>
          </p:cNvPr>
          <p:cNvSpPr txBox="1"/>
          <p:nvPr/>
        </p:nvSpPr>
        <p:spPr>
          <a:xfrm>
            <a:off x="1310127" y="5666244"/>
            <a:ext cx="9571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Real-time spoilage CSV data samples exported from </a:t>
            </a:r>
            <a:r>
              <a:rPr lang="en-US" sz="2400" b="1" dirty="0" err="1"/>
              <a:t>ThingSpeak</a:t>
            </a:r>
            <a:r>
              <a:rPr lang="en-US" sz="2400" b="1" dirty="0"/>
              <a:t> and Azure used for model training and validation.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93375A-3E62-F810-1E58-365728EA4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329666"/>
            <a:ext cx="4396251" cy="4198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B6D849-6C9B-DE4E-B273-F3D64615D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131" y="1314223"/>
            <a:ext cx="4516413" cy="430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CD2C5-15FD-0AAE-72E4-ED4B844D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A587E2-3A6E-3FB0-99F7-D9F802BCE6E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9C0FAD-D2C2-7924-34B9-FEAF1633773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371D42-F19F-4BB2-7834-DB2B4FF11A85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693D8-66D1-F3CA-7C05-39B5D5F0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538" y="1541465"/>
            <a:ext cx="7632752" cy="45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2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6986-4090-00BE-0F3D-9C3BE669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5D80F-9776-2D9D-22B9-4F159EADCFE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FFFC70-B156-6B84-F9BE-DF079EF17F4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FCF708-8976-9B93-4434-BCD06FADDE05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8D0662-95E9-997C-012F-9D725842E06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55996" y="1460985"/>
            <a:ext cx="1137696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ESP32 successfully transmitted real-time sensor data 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ThingSpeak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visualization and Render for cloud routing at fixed time intervals.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Render web app enabled users to select the food category and redirected the incoming data to the respective Azure ML endpoint.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Azure ML model accurately classified fruits, meat, and dairy samples based on gas concentration variations.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Telegram and Twilio alerts were automatically triggered upon spoilage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integrated IoT–ML framework demonstrated reliable end-to-end operation from sensing to cloud prediction and alert generation.</a:t>
            </a:r>
          </a:p>
        </p:txBody>
      </p:sp>
    </p:spTree>
    <p:extLst>
      <p:ext uri="{BB962C8B-B14F-4D97-AF65-F5344CB8AC3E}">
        <p14:creationId xmlns:p14="http://schemas.microsoft.com/office/powerpoint/2010/main" val="68281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F18B-ED61-86EA-BAE2-0B90EF71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377C98-7B1C-8F5D-D584-F8C0F14999F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F77E9F-DC84-B30C-90A1-DED113168F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7D4E4D-55FF-A72B-C1D8-477D9CDA92F8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30681-6254-E899-714F-774175F73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88" y="1840457"/>
            <a:ext cx="9339451" cy="17242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0ACB38-0032-D10C-202E-B6849BCC39EC}"/>
              </a:ext>
            </a:extLst>
          </p:cNvPr>
          <p:cNvSpPr txBox="1"/>
          <p:nvPr/>
        </p:nvSpPr>
        <p:spPr>
          <a:xfrm>
            <a:off x="497840" y="4135120"/>
            <a:ext cx="11196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Random Forest achieved 96.34% accuracy (R²) with a Mean Absolute Error of 0.13 </a:t>
            </a:r>
            <a:r>
              <a:rPr lang="en-US" sz="2400" b="1" dirty="0" err="1"/>
              <a:t>hrs</a:t>
            </a:r>
            <a:r>
              <a:rPr lang="en-US" sz="2400" b="1" dirty="0"/>
              <a:t>,</a:t>
            </a:r>
            <a:br>
              <a:rPr lang="en-US" sz="2400" b="1" dirty="0"/>
            </a:br>
            <a:r>
              <a:rPr lang="en-US" sz="2400" b="1" dirty="0"/>
              <a:t>outperforming Linear Regression, which achieved 80.20% accuracy with 0.84 </a:t>
            </a:r>
            <a:r>
              <a:rPr lang="en-US" sz="2400" b="1" dirty="0" err="1"/>
              <a:t>hrs</a:t>
            </a:r>
            <a:r>
              <a:rPr lang="en-US" sz="2400" b="1" dirty="0"/>
              <a:t> MAE.</a:t>
            </a:r>
            <a:br>
              <a:rPr lang="en-US" sz="2400" b="1" dirty="0"/>
            </a:br>
            <a:r>
              <a:rPr lang="en-US" sz="2400" b="1" dirty="0"/>
              <a:t>Hence, Random Forest was selected as the final model for Azure ML deployment.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6230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993C-B2BF-D5B2-086F-79443968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C987CF-1E0B-03E2-4D15-2B62165831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5906C2-B5E2-852A-B1C8-DD9EEA70D60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B2083F-CA49-325B-1B26-25F986482DF4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3E9ACF-3B4D-84D6-3393-E49E8826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29" y="1734328"/>
            <a:ext cx="5260259" cy="2601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87A082-ABA7-8C20-46E4-8F10312C9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1" r="7006"/>
          <a:stretch>
            <a:fillRect/>
          </a:stretch>
        </p:blipFill>
        <p:spPr>
          <a:xfrm>
            <a:off x="186812" y="1734328"/>
            <a:ext cx="6160484" cy="2601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E3FFE8-7DD4-B88D-5B26-9CD2660E26B3}"/>
              </a:ext>
            </a:extLst>
          </p:cNvPr>
          <p:cNvSpPr txBox="1"/>
          <p:nvPr/>
        </p:nvSpPr>
        <p:spPr>
          <a:xfrm>
            <a:off x="293062" y="4878048"/>
            <a:ext cx="6160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Deployed Random Forest (RF) models on Azure Web Apps for real-time spoilage prediction.</a:t>
            </a:r>
            <a:endParaRPr lang="en-IN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D7414C-BC74-F2A9-CD2D-969170C8AA9C}"/>
              </a:ext>
            </a:extLst>
          </p:cNvPr>
          <p:cNvSpPr txBox="1"/>
          <p:nvPr/>
        </p:nvSpPr>
        <p:spPr>
          <a:xfrm>
            <a:off x="6642908" y="4859631"/>
            <a:ext cx="5755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Render Web App interface (endpoint routing)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0048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9BF6-78E1-16D5-6C54-9DF26CF9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1B30F3-E3FB-A85F-F786-DA52E6B85C2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141400-7114-115A-384B-38C43DA9C1F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87F66E-B959-46C3-72EE-FFE7D3AB1715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07BA3D-769B-E123-9260-C7A33AF33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58"/>
          <a:stretch>
            <a:fillRect/>
          </a:stretch>
        </p:blipFill>
        <p:spPr>
          <a:xfrm>
            <a:off x="221274" y="1398627"/>
            <a:ext cx="8038636" cy="35164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EF42C2-A41E-1652-A6F2-1F1A7B2E6317}"/>
              </a:ext>
            </a:extLst>
          </p:cNvPr>
          <p:cNvSpPr txBox="1"/>
          <p:nvPr/>
        </p:nvSpPr>
        <p:spPr>
          <a:xfrm>
            <a:off x="0" y="5121910"/>
            <a:ext cx="8465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Live data sent to </a:t>
            </a:r>
            <a:r>
              <a:rPr lang="en-US" sz="2400" b="1" dirty="0" err="1"/>
              <a:t>ThingSpeak</a:t>
            </a:r>
            <a:r>
              <a:rPr lang="en-US" sz="2400" b="1" dirty="0"/>
              <a:t> and Render, followed by Telegram alerts showing spoilage stage prediction (Meat Demo).</a:t>
            </a:r>
            <a:endParaRPr lang="en-IN" sz="24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25E17-1866-DD60-419B-8D6F35AC9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"/>
          <a:stretch>
            <a:fillRect/>
          </a:stretch>
        </p:blipFill>
        <p:spPr>
          <a:xfrm>
            <a:off x="8758308" y="668595"/>
            <a:ext cx="2616438" cy="575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9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67702-04B3-B323-0D1F-6DF49D52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3B88CF-F646-0A2A-0AF3-E3C2F495952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0845C6-89CD-E03E-6ADC-1E43323A518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1141763-EDD5-E165-813C-D93F075491F2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1DC356-BE0F-9012-B874-F45B62BC84A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80194" y="1490372"/>
            <a:ext cx="1163161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 real-time IoT-based spoilage monitoring system was successfully developed for multiple food categories including fruits, meat, and dairy.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system used gas sensors and a Random Forest model deployed on Azure ML for accurate spoilage stage prediction.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was transmitted through ESP32 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ThingSpeak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visualization and Render for cloud routing and model access.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Automated alerts through Telegram Bot and Twilio SMS notified users instantly when spoilage was detected.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IoT–ML framework demonstrated reliable end-to-end performance, proving its potential for real-time food quality management.</a:t>
            </a:r>
          </a:p>
        </p:txBody>
      </p:sp>
    </p:spTree>
    <p:extLst>
      <p:ext uri="{BB962C8B-B14F-4D97-AF65-F5344CB8AC3E}">
        <p14:creationId xmlns:p14="http://schemas.microsoft.com/office/powerpoint/2010/main" val="158207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9B24-6970-8B25-8C3F-B542C154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5A170-8033-E4B7-AB23-B1BF86FD47D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659BF1-7FD5-5788-561A-9F8791DB9E9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2BAD6B-EC6A-0179-6181-7B5FB6553376}"/>
              </a:ext>
            </a:extLst>
          </p:cNvPr>
          <p:cNvSpPr txBox="1"/>
          <p:nvPr/>
        </p:nvSpPr>
        <p:spPr>
          <a:xfrm>
            <a:off x="5695914" y="57036"/>
            <a:ext cx="657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1BEB61-4E5B-B60B-78AE-482186DD4E8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38896" y="1308480"/>
            <a:ext cx="1187603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Z. W. Bhuiyan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et al.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“IoT-Based Meat Freshness Classification Using Deep Learning,”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IEEE Internet of Things Journal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2024.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J. Chong, A. E. Omer, S. Idziak, L. Wei, and G. Shaker, “Low-Cost Real-Time Non-Invasive Milk Quality Monitoring Using 60 GHz FMCW Radars,”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Sensors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2025.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Abass,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Eruaga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Itua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and Bature, “Advancing Food Safety through IoT Real-Time Monitoring and Control,”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International Journal of Smart Agriculture and Food Technology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2024.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J.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Raj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et al.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“An IoT-Based Application for Real-Time Detection of Rotten Fruits,”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Journal of Food Engineering and Technology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2024.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C. Y. Song, Z. Wu, J. Gray, and Z. Meng, “An RFID-Powered Multi-Sensing Fusion Industrial IoT System for Food Quality Assessment and Sensing,”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IEEE Access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2024.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Seilov,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Abildinov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Baydeldinov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Nurzhaubayev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“Integration of Electronic Nose and Machine Learning for Monitoring Food Spoilage in Storage Systems,”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Computers and Electronics in Agriculture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2024.</a:t>
            </a:r>
          </a:p>
        </p:txBody>
      </p:sp>
    </p:spTree>
    <p:extLst>
      <p:ext uri="{BB962C8B-B14F-4D97-AF65-F5344CB8AC3E}">
        <p14:creationId xmlns:p14="http://schemas.microsoft.com/office/powerpoint/2010/main" val="377943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0402-AA3C-CB0E-6B61-B9452FFC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95F2CA-43FB-A06F-A6D7-1D70C34074D8}"/>
              </a:ext>
            </a:extLst>
          </p:cNvPr>
          <p:cNvSpPr txBox="1"/>
          <p:nvPr/>
        </p:nvSpPr>
        <p:spPr>
          <a:xfrm>
            <a:off x="5653547" y="57036"/>
            <a:ext cx="662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IoT-Enabled Predictive Quality Monitoring of Perishable Food Items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635BE9-5E9E-7248-E24A-37ADE9878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529" y="2752518"/>
            <a:ext cx="6626941" cy="1352964"/>
          </a:xfrm>
        </p:spPr>
        <p:txBody>
          <a:bodyPr/>
          <a:lstStyle/>
          <a:p>
            <a:pPr marL="0" indent="0" algn="ctr">
              <a:buNone/>
            </a:pPr>
            <a:r>
              <a:rPr lang="en-US" sz="8800" dirty="0">
                <a:latin typeface="+mn-lt"/>
              </a:rPr>
              <a:t>Thank You.!</a:t>
            </a:r>
            <a:endParaRPr lang="en-IN" sz="8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683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3100</TotalTime>
  <Words>1272</Words>
  <Application>Microsoft Office PowerPoint</Application>
  <PresentationFormat>Widescreen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Haripriya S</cp:lastModifiedBy>
  <cp:revision>121</cp:revision>
  <dcterms:created xsi:type="dcterms:W3CDTF">2024-05-13T10:33:11Z</dcterms:created>
  <dcterms:modified xsi:type="dcterms:W3CDTF">2025-11-12T17:04:59Z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